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9" r:id="rId4"/>
    <p:sldId id="258" r:id="rId5"/>
    <p:sldId id="259" r:id="rId6"/>
    <p:sldId id="260" r:id="rId7"/>
    <p:sldId id="265" r:id="rId8"/>
    <p:sldId id="261" r:id="rId9"/>
    <p:sldId id="266" r:id="rId10"/>
    <p:sldId id="267" r:id="rId11"/>
    <p:sldId id="268" r:id="rId12"/>
    <p:sldId id="270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8"/>
    <p:restoredTop sz="94635"/>
  </p:normalViewPr>
  <p:slideViewPr>
    <p:cSldViewPr snapToGrid="0">
      <p:cViewPr>
        <p:scale>
          <a:sx n="130" d="100"/>
          <a:sy n="130" d="100"/>
        </p:scale>
        <p:origin x="-11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1D6A-2948-5045-9F7C-34400C5A447C}" type="datetimeFigureOut">
              <a:rPr lang="en-US" smtClean="0"/>
              <a:t>4/29/25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A9598-D977-874B-BFE2-560302C2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6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9598-D977-874B-BFE2-560302C22E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5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Dot size and color customized to enhance interpretability.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9598-D977-874B-BFE2-560302C22E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1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7FB4-FC87-36BF-EA07-6D15A2B04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cap="none" dirty="0"/>
              <a:t>Visualizing Spatial Microbial Localization in the Colon: An R-based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EE5CB-AFD8-439F-5A77-30F8D1844A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cap="none" dirty="0"/>
              <a:t>Maysen Hauck</a:t>
            </a:r>
          </a:p>
        </p:txBody>
      </p:sp>
    </p:spTree>
    <p:extLst>
      <p:ext uri="{BB962C8B-B14F-4D97-AF65-F5344CB8AC3E}">
        <p14:creationId xmlns:p14="http://schemas.microsoft.com/office/powerpoint/2010/main" val="303499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D372-FB34-E405-75A9-CB700336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Colon Region Associated Diseases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E377F-8C24-60BF-BD6E-053A6D2F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862137" cy="3678303"/>
          </a:xfrm>
        </p:spPr>
        <p:txBody>
          <a:bodyPr/>
          <a:lstStyle/>
          <a:p>
            <a:r>
              <a:rPr lang="en-US" dirty="0"/>
              <a:t>The human colon contains distinct anatomical regions, each playing different roles in the digestion and absorption processes</a:t>
            </a:r>
          </a:p>
          <a:p>
            <a:r>
              <a:rPr lang="en-US" dirty="0"/>
              <a:t>Within these regions, there is an association of specific colon-related diseases prevalence </a:t>
            </a:r>
          </a:p>
        </p:txBody>
      </p:sp>
      <p:pic>
        <p:nvPicPr>
          <p:cNvPr id="1026" name="Picture 2" descr="The Colon - Ascending - Transverse - Descending - Sigmoid - TeachMeAnatomy">
            <a:extLst>
              <a:ext uri="{FF2B5EF4-FFF2-40B4-BE49-F238E27FC236}">
                <a16:creationId xmlns:a16="http://schemas.microsoft.com/office/drawing/2014/main" id="{713247D3-7CC2-61ED-7F4C-CAC136AAE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700" y="2180496"/>
            <a:ext cx="5474879" cy="367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lorectal Surgery">
            <a:extLst>
              <a:ext uri="{FF2B5EF4-FFF2-40B4-BE49-F238E27FC236}">
                <a16:creationId xmlns:a16="http://schemas.microsoft.com/office/drawing/2014/main" id="{8938E102-4306-66A2-B74F-3B9BF11EF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961" y="2180496"/>
            <a:ext cx="3508355" cy="350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95E891-E9F9-10DE-3C8E-66594AAF5F07}"/>
              </a:ext>
            </a:extLst>
          </p:cNvPr>
          <p:cNvSpPr/>
          <p:nvPr/>
        </p:nvSpPr>
        <p:spPr>
          <a:xfrm>
            <a:off x="581192" y="4213980"/>
            <a:ext cx="5937506" cy="11885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4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2724E-2C16-0714-D48F-EB385F74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61A9-7530-1399-DD4D-667574B7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The Gut Microbiome and Disease Association</a:t>
            </a:r>
          </a:p>
        </p:txBody>
      </p:sp>
      <p:pic>
        <p:nvPicPr>
          <p:cNvPr id="2050" name="Picture 2" descr="Gut microbiota in colorectal cancer development and therapy | Nature  Reviews Clinical Oncology">
            <a:extLst>
              <a:ext uri="{FF2B5EF4-FFF2-40B4-BE49-F238E27FC236}">
                <a16:creationId xmlns:a16="http://schemas.microsoft.com/office/drawing/2014/main" id="{FEC32BC0-7DEA-E08D-ABCF-C7AE1BB010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039" y="1889335"/>
            <a:ext cx="5252769" cy="481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8DD459-808A-67E9-5870-8E5C01904C2E}"/>
              </a:ext>
            </a:extLst>
          </p:cNvPr>
          <p:cNvSpPr/>
          <p:nvPr/>
        </p:nvSpPr>
        <p:spPr>
          <a:xfrm>
            <a:off x="6308491" y="1726587"/>
            <a:ext cx="5351863" cy="325495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4CC8F-0941-6D0B-F4AA-3C9D931586D8}"/>
              </a:ext>
            </a:extLst>
          </p:cNvPr>
          <p:cNvSpPr txBox="1"/>
          <p:nvPr/>
        </p:nvSpPr>
        <p:spPr>
          <a:xfrm>
            <a:off x="581192" y="2052082"/>
            <a:ext cx="55148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dirty="0"/>
              <a:t>Microbial variation across these regions is linked to local disease development</a:t>
            </a:r>
          </a:p>
          <a:p>
            <a:pPr>
              <a:buClr>
                <a:schemeClr val="accent2"/>
              </a:buClr>
            </a:pPr>
            <a:endParaRPr lang="en-US" dirty="0"/>
          </a:p>
          <a:p>
            <a:pPr marL="285750" indent="-285750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dirty="0"/>
              <a:t>Colorectal cancer (CRC) has been associated with spatial colonization patterns, particularly enrichment of pathogens like </a:t>
            </a:r>
            <a:r>
              <a:rPr lang="en-US" i="1" dirty="0"/>
              <a:t>Fusobacterium nucleatum</a:t>
            </a:r>
            <a:r>
              <a:rPr lang="en-US" dirty="0"/>
              <a:t> in specific regions.</a:t>
            </a:r>
          </a:p>
          <a:p>
            <a:pPr>
              <a:buClr>
                <a:schemeClr val="accent2"/>
              </a:buClr>
            </a:pPr>
            <a:endParaRPr lang="en-US" dirty="0"/>
          </a:p>
          <a:p>
            <a:pPr marL="285750" indent="-285750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dirty="0"/>
              <a:t>Understanding these spatial dynamics is key to identifying microbiome-based biomarkers and interventions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582FC4-1813-AC45-6CE5-A44D22C86217}"/>
              </a:ext>
            </a:extLst>
          </p:cNvPr>
          <p:cNvSpPr/>
          <p:nvPr/>
        </p:nvSpPr>
        <p:spPr>
          <a:xfrm>
            <a:off x="470081" y="2854336"/>
            <a:ext cx="5887958" cy="11885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D869A1-27BA-4DBF-8D06-648097FBCBF6}"/>
              </a:ext>
            </a:extLst>
          </p:cNvPr>
          <p:cNvSpPr/>
          <p:nvPr/>
        </p:nvSpPr>
        <p:spPr>
          <a:xfrm>
            <a:off x="370985" y="4042909"/>
            <a:ext cx="5937506" cy="11885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7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2" animBg="1"/>
      <p:bldP spid="7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E86D-C4D1-178D-66D9-87604EF0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E38C-EE0C-1FB2-2E69-500EC6191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bacterial species vary in their abundance and spatial distribution across anatomical regions of the colon, and is there a correlation to disease prevalence by region?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28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C0C7-2DFC-4E2E-569E-F6B440F1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Steps Taken to Address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DFD81-2724-C153-8402-453D90A95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Step 1: Creation of a mock microbial abundance data using a Large Language AI Model (ChatGPT)</a:t>
            </a:r>
          </a:p>
          <a:p>
            <a:r>
              <a:rPr lang="en-US" dirty="0"/>
              <a:t>Step 2: Used the R packages </a:t>
            </a:r>
            <a:r>
              <a:rPr lang="en-US" dirty="0" err="1"/>
              <a:t>tidyverse</a:t>
            </a:r>
            <a:r>
              <a:rPr lang="en-US" dirty="0"/>
              <a:t>, ggplot2, and </a:t>
            </a:r>
            <a:r>
              <a:rPr lang="en-US" dirty="0" err="1"/>
              <a:t>ggimage</a:t>
            </a:r>
            <a:r>
              <a:rPr lang="en-US" dirty="0"/>
              <a:t> to generate desired output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E2CED3-088A-6B75-3E13-9D08C630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246"/>
          <a:stretch/>
        </p:blipFill>
        <p:spPr>
          <a:xfrm>
            <a:off x="6317921" y="2502568"/>
            <a:ext cx="2651760" cy="354931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36E0DE-7E13-D48A-D0C0-8148153A4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" t="51754"/>
          <a:stretch/>
        </p:blipFill>
        <p:spPr>
          <a:xfrm>
            <a:off x="8969680" y="2646947"/>
            <a:ext cx="2641127" cy="330868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861406-AA0F-1FFD-F35B-1D985082E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895"/>
          <a:stretch/>
        </p:blipFill>
        <p:spPr>
          <a:xfrm>
            <a:off x="8959048" y="2502568"/>
            <a:ext cx="2651760" cy="144379"/>
          </a:xfrm>
          <a:prstGeom prst="rect">
            <a:avLst/>
          </a:prstGeom>
          <a:ln w="6350"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6444E9B-929F-8EFD-F003-69BF8E6A1828}"/>
              </a:ext>
            </a:extLst>
          </p:cNvPr>
          <p:cNvSpPr/>
          <p:nvPr/>
        </p:nvSpPr>
        <p:spPr>
          <a:xfrm>
            <a:off x="425302" y="4093535"/>
            <a:ext cx="5433238" cy="71238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7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2E7A-E47A-FD2D-001D-7072DC10E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Code Set- Heat Map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3A57255-2172-F30A-85E9-EB4C3E505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3980" y="1945285"/>
            <a:ext cx="5984040" cy="1254386"/>
          </a:xfrm>
          <a:ln>
            <a:noFill/>
          </a:ln>
          <a:effectLst>
            <a:outerShdw blurRad="50800" dist="38100" dir="2700000" sx="100516" sy="100516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BA1EDBA-2071-E848-D8A1-E180B1C03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526" y="3320716"/>
            <a:ext cx="6683193" cy="3347348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0560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D768-442E-C021-52DC-07368EC3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BBB1-86D2-AD8C-55F3-36350185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Code Set- Heat Map</a:t>
            </a:r>
          </a:p>
        </p:txBody>
      </p:sp>
      <p:pic>
        <p:nvPicPr>
          <p:cNvPr id="8" name="Content Placeholder 7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16ADC3E0-80CC-C933-BA75-97E2191AA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9553" y="1967954"/>
            <a:ext cx="7952893" cy="4589255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3240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A0BE-FB87-450C-F751-5E488A3A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Heatmap Demonstrating Bacterial Abundance Across Colon Sites</a:t>
            </a:r>
          </a:p>
        </p:txBody>
      </p:sp>
      <p:pic>
        <p:nvPicPr>
          <p:cNvPr id="5" name="Content Placeholder 4" descr="A diagram of bacteria and colon sites&#10;&#10;AI-generated content may be incorrect.">
            <a:extLst>
              <a:ext uri="{FF2B5EF4-FFF2-40B4-BE49-F238E27FC236}">
                <a16:creationId xmlns:a16="http://schemas.microsoft.com/office/drawing/2014/main" id="{94233A27-8589-0C0C-F99B-3CB52961C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092" y="1909701"/>
            <a:ext cx="6423816" cy="4817863"/>
          </a:xfrm>
        </p:spPr>
      </p:pic>
    </p:spTree>
    <p:extLst>
      <p:ext uri="{BB962C8B-B14F-4D97-AF65-F5344CB8AC3E}">
        <p14:creationId xmlns:p14="http://schemas.microsoft.com/office/powerpoint/2010/main" val="18477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F518-0F25-7FB1-8CEC-398FFE24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8D06-CA7E-C8AD-5AF3-BE1800D2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Code Set- Colon Diagram</a:t>
            </a:r>
          </a:p>
        </p:txBody>
      </p:sp>
      <p:pic>
        <p:nvPicPr>
          <p:cNvPr id="8" name="Content Placeholder 7" descr="A black background with yellow text&#10;&#10;AI-generated content may be incorrect.">
            <a:extLst>
              <a:ext uri="{FF2B5EF4-FFF2-40B4-BE49-F238E27FC236}">
                <a16:creationId xmlns:a16="http://schemas.microsoft.com/office/drawing/2014/main" id="{2E16C58D-0989-9F6E-56D8-9F6BB6634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0756" y="1856649"/>
            <a:ext cx="5570488" cy="953850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42EA24F-5730-FD13-3D4B-D1C0FE769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805" y="2916902"/>
            <a:ext cx="5094390" cy="3805448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552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BD89-0909-87A4-46FF-CC8608763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365E-E810-DA60-E6CD-37425EB5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Code Set- Colon Diagram</a:t>
            </a:r>
          </a:p>
        </p:txBody>
      </p:sp>
      <p:pic>
        <p:nvPicPr>
          <p:cNvPr id="12" name="Content Placeholder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24EF810-4202-D9E8-479B-22B7E0814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5058" y="1915450"/>
            <a:ext cx="5061884" cy="4748240"/>
          </a:xfr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6673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99C2D-CCBC-AF46-C153-7A416849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D588-B77E-89B6-F42C-044EE1C7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Diagram of Colon Regions Demonstrating Dominant Bacterial Species Associated with Each Region</a:t>
            </a:r>
          </a:p>
        </p:txBody>
      </p:sp>
      <p:pic>
        <p:nvPicPr>
          <p:cNvPr id="7" name="Content Placeholder 6" descr="A diagram of a large intestine&#10;&#10;AI-generated content may be incorrect.">
            <a:extLst>
              <a:ext uri="{FF2B5EF4-FFF2-40B4-BE49-F238E27FC236}">
                <a16:creationId xmlns:a16="http://schemas.microsoft.com/office/drawing/2014/main" id="{9AF626A7-F802-BDC6-D630-040FEF4DE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61504" y="1118087"/>
            <a:ext cx="7290997" cy="7290997"/>
          </a:xfrm>
        </p:spPr>
      </p:pic>
    </p:spTree>
    <p:extLst>
      <p:ext uri="{BB962C8B-B14F-4D97-AF65-F5344CB8AC3E}">
        <p14:creationId xmlns:p14="http://schemas.microsoft.com/office/powerpoint/2010/main" val="1318452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65A26-BE56-18D6-F2C8-A68452F2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D3B2-7695-AB7A-1077-0027D094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Interpretation of Data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D3FB-AB02-25A6-4323-2B74C9E56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19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Heat Map</a:t>
            </a:r>
          </a:p>
          <a:p>
            <a:r>
              <a:rPr lang="en-US" dirty="0"/>
              <a:t>Reveals variation in bacterial abundance across different regions of the colon.</a:t>
            </a:r>
          </a:p>
          <a:p>
            <a:r>
              <a:rPr lang="en-US" dirty="0"/>
              <a:t>Some species (e.g., </a:t>
            </a:r>
            <a:r>
              <a:rPr lang="en-US" i="1" dirty="0"/>
              <a:t>Escherichia coli</a:t>
            </a:r>
            <a:r>
              <a:rPr lang="en-US" dirty="0"/>
              <a:t>, </a:t>
            </a:r>
            <a:r>
              <a:rPr lang="en-US" i="1" dirty="0"/>
              <a:t>Bacteroides fragilis</a:t>
            </a:r>
            <a:r>
              <a:rPr lang="en-US" dirty="0"/>
              <a:t>) show broad distribution, while others like </a:t>
            </a:r>
            <a:r>
              <a:rPr lang="en-US" i="1" dirty="0"/>
              <a:t>Fusobacterium nucleatum</a:t>
            </a:r>
            <a:r>
              <a:rPr lang="en-US" dirty="0"/>
              <a:t> are concentrated in specific areas.</a:t>
            </a:r>
          </a:p>
          <a:p>
            <a:r>
              <a:rPr lang="en-US" dirty="0"/>
              <a:t>Helps identify regional microbial patterns that may relate to function or disease association.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Colon Diagram</a:t>
            </a:r>
          </a:p>
          <a:p>
            <a:r>
              <a:rPr lang="en-US" dirty="0"/>
              <a:t>Provides a spatial visualization of the dominant bacterium in each anatomical region.</a:t>
            </a:r>
          </a:p>
          <a:p>
            <a:r>
              <a:rPr lang="en-US" dirty="0"/>
              <a:t>Emphasizes site-specific microbial trends that can be lost in table or heatmap views.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44EB1-F36C-3E54-5623-233E79A0D3A7}"/>
              </a:ext>
            </a:extLst>
          </p:cNvPr>
          <p:cNvSpPr/>
          <p:nvPr/>
        </p:nvSpPr>
        <p:spPr>
          <a:xfrm>
            <a:off x="355050" y="4412974"/>
            <a:ext cx="11029615" cy="2087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10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E4CF-B8DE-0C44-BFAD-022AC137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F8B48-FB3F-F137-CD28-39B6C7DD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Integrate real microbiome sequencing data from human colon samples through fecal sample, tissue sample, or generated and manipulated organoids</a:t>
            </a:r>
          </a:p>
          <a:p>
            <a:r>
              <a:rPr lang="en-US" dirty="0"/>
              <a:t>Expand to include temporal or disease-state comparisons (CRC vs. healthy)</a:t>
            </a:r>
          </a:p>
          <a:p>
            <a:r>
              <a:rPr lang="en-US" dirty="0"/>
              <a:t>Create an interactive web application using R’s Shiny package, where users could: </a:t>
            </a:r>
          </a:p>
          <a:p>
            <a:pPr lvl="1"/>
            <a:r>
              <a:rPr lang="en-US" dirty="0"/>
              <a:t>Select specific bacteria to highlight across colon regions</a:t>
            </a:r>
          </a:p>
          <a:p>
            <a:pPr lvl="1"/>
            <a:r>
              <a:rPr lang="en-US" dirty="0"/>
              <a:t>Upload custom abundance data for instant visualization</a:t>
            </a:r>
          </a:p>
          <a:p>
            <a:pPr lvl="1"/>
            <a:r>
              <a:rPr lang="en-US" dirty="0"/>
              <a:t>Makes analyses accessible to non-coders, ideal for education, research, or clinical interpretation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179DA-E64D-555E-1491-D7B650A35BE2}"/>
              </a:ext>
            </a:extLst>
          </p:cNvPr>
          <p:cNvSpPr/>
          <p:nvPr/>
        </p:nvSpPr>
        <p:spPr>
          <a:xfrm>
            <a:off x="364022" y="3893540"/>
            <a:ext cx="9437451" cy="24297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B1B1A-660D-6C85-B48B-E63EDDD5EB52}"/>
              </a:ext>
            </a:extLst>
          </p:cNvPr>
          <p:cNvSpPr/>
          <p:nvPr/>
        </p:nvSpPr>
        <p:spPr>
          <a:xfrm>
            <a:off x="581192" y="3429000"/>
            <a:ext cx="9972508" cy="28943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9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2C2B-C411-ABA1-F423-A4B94635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22F2A-6EA7-124D-A7BF-991491784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McMurdie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P. J., &amp; Holmes, S. (2013).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phyloseq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An R package for reproducible interactive analysis and graphics of microbiome census data. </a:t>
            </a:r>
            <a:r>
              <a:rPr lang="en-US" sz="18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PLoS</a:t>
            </a:r>
            <a:r>
              <a:rPr lang="en-US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8(4), e61217.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Callahan, B. J., et al. (2016). DADA2: High-resolution sample inference from Illumina amplicon data. </a:t>
            </a:r>
            <a:r>
              <a:rPr lang="en-US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Nature Methods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13(7), 581–583.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Martino, C., et al. (2021). A novel interactive microbiome visualization tool for spatially resolved data. </a:t>
            </a:r>
            <a:r>
              <a:rPr lang="en-US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Nature Methods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18(5), 511–519.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Knight, R., et al. (2018). Best practices for analyzing microbiomes. </a:t>
            </a:r>
            <a:r>
              <a:rPr lang="en-US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Nature Reviews Microbiology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16(7), 410–422.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Tropini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C., Earle, K. A., Huang, K. C., &amp; Sonnenburg, J. L. (2017). The gut microbiome: Connecting spatial organization to function. </a:t>
            </a:r>
            <a:r>
              <a:rPr lang="en-US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Cell Host &amp; Microbe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21(4), 433-442.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Gu, S., Chen, Y., Zhang, X., Lu, H., &amp;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Lv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T. (2013). Bacterial community mapping of the intestinal tract in colorectal cancer patients. </a:t>
            </a:r>
            <a:r>
              <a:rPr lang="en-US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Microbial Ecology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66(2), 460-470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75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180B-4CE4-45EB-4331-FF90E21B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02678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5659</TotalTime>
  <Words>596</Words>
  <Application>Microsoft Macintosh PowerPoint</Application>
  <PresentationFormat>Widescreen</PresentationFormat>
  <Paragraphs>49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Gill Sans MT</vt:lpstr>
      <vt:lpstr>Symbol</vt:lpstr>
      <vt:lpstr>Wingdings</vt:lpstr>
      <vt:lpstr>Wingdings 2</vt:lpstr>
      <vt:lpstr>Dividend</vt:lpstr>
      <vt:lpstr>Visualizing Spatial Microbial Localization in the Colon: An R-based Approach</vt:lpstr>
      <vt:lpstr>Colon Region Associated Diseases</vt:lpstr>
      <vt:lpstr>The Gut Microbiome and Disease Association</vt:lpstr>
      <vt:lpstr>Research Question</vt:lpstr>
      <vt:lpstr>Steps Taken to Address Question</vt:lpstr>
      <vt:lpstr>Code Set- Heat Map</vt:lpstr>
      <vt:lpstr>Code Set- Heat Map</vt:lpstr>
      <vt:lpstr>Heatmap Demonstrating Bacterial Abundance Across Colon Sites</vt:lpstr>
      <vt:lpstr>Code Set- Colon Diagram</vt:lpstr>
      <vt:lpstr>Code Set- Colon Diagram</vt:lpstr>
      <vt:lpstr>Diagram of Colon Regions Demonstrating Dominant Bacterial Species Associated with Each Region</vt:lpstr>
      <vt:lpstr>Interpretation of Data Figures</vt:lpstr>
      <vt:lpstr>Future Directions</vt:lpstr>
      <vt:lpstr>References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Hauck, Maysen</dc:creator>
  <cp:lastModifiedBy>Hauck, Maysen</cp:lastModifiedBy>
  <cp:revision>5</cp:revision>
  <dcterms:created xsi:type="dcterms:W3CDTF">2025-04-22T19:11:15Z</dcterms:created>
  <dcterms:modified xsi:type="dcterms:W3CDTF">2025-05-01T17:32:00Z</dcterms:modified>
</cp:coreProperties>
</file>